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292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MySQL-based relational database that tracks municipal waste collection across zones, trucks and households, with analytics, automation and query optimisation.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problems: data volume, normalization, integrity and auditability. The solution is a pipeline from raw CSV to an indexed, automated relational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normalized CSV files with about 20,000 records each, about 80,000 rows in total, loaded into MySQL. Keys are defined so each entity stands alone and links through foreign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normal form: atomic values, no partial dependencies, no transitive dependencies, and finally every determinant is a key. The result is 9 anomaly-free relations from a 29-column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Relationship tree: Zone has Households, Households and Trucks feed Collections, and every Collection is logged in the audit table. Foreign keys cascade on delete and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join types bring the normalized tables back together. The self-join pairs households in the same zone. Correlated subqueries compare each row to an overall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RecordCollection wraps one logical INSERT. It generates the next ID, stamps today's date, inserts the row and returns the new ID. InnoDB gives isolation and durability.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BEFORE INSERT trigger validates weight and auto-flags heavy hazardous waste. The AFTER INSERT trigger writes an audit row for every new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indexes target the common filters. Compare EXPLAIN output before and after: a full table scan becomes an index lookup where the filter is selective. Mention the trade-off in write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technical achievements: five connected tables at around 20,000 rows each, four join types, subqueries, views, a stored procedure, two triggers and five indexes.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ten steps in order. Steps 8 and 9 are the highlights: the procedure call and the trigger auto-flagging.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and offer to run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76880" y="219456"/>
            <a:ext cx="117973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MANAGEMENT SYSTEMS PROJECT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Waste Segregation &amp; Municipal Collection Tracking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SQL-Based Relational Database, Analytics &amp; Query Optimization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311833" cy="2610196"/>
          </a:xfrm>
          <a:prstGeom prst="roundRect">
            <a:avLst>
              <a:gd name="adj" fmla="val 2500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5018" y="3246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Details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47872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:Sakshi Shinde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 No: P47  |  PRN: 24ACDS1101015  |  Section: P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T.Y. B.Tech CSE (Data Science)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Subject: Database Management Systems (23UDSPCL3508)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 In-Charge: Mr. Chinmay Mukim Sir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00058" y="3225338"/>
            <a:ext cx="4181302" cy="2572789"/>
          </a:xfrm>
          <a:prstGeom prst="roundRect">
            <a:avLst>
              <a:gd name="adj" fmla="val 2500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0" y="3329247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695007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MySQL 8.0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InnoDB Storage Engine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MySQL Workbench (GUI + queries)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 Bulk Import (LOAD DATA)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605DF5-4D97-EAAF-B108-02127A69E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74682" cy="8916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365F05-BAA6-B787-24C1-D8FF944FF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" y="6126480"/>
            <a:ext cx="121920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69134" y="216131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Solution 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Sakshi Shinde  |  P47  |  Waste Segregation &amp; Municipal Collection Tracking System  |  MySQL 8.0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500116" cy="1325880"/>
          </a:xfrm>
          <a:prstGeom prst="roundRect">
            <a:avLst>
              <a:gd name="adj" fmla="val 5517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4173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Operational Data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75564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Municipal collections generate large structured data every day across zones, trucks, households and collections.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40196" y="1280160"/>
            <a:ext cx="5500116" cy="1325880"/>
          </a:xfrm>
          <a:prstGeom prst="roundRect">
            <a:avLst>
              <a:gd name="adj" fmla="val 5517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23076" y="1463040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963156" y="14173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Redundancy &amp; Anomalies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963156" y="175564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Without normalization, redundant data and update anomalies occur across household, zone and truck details.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2743200"/>
            <a:ext cx="5500116" cy="1325880"/>
          </a:xfrm>
          <a:prstGeom prst="roundRect">
            <a:avLst>
              <a:gd name="adj" fmla="val 5517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28803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Integrity Checks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2186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Records need validation: valid weight, valid waste type and valid segregation status.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40196" y="2743200"/>
            <a:ext cx="5500116" cy="1325880"/>
          </a:xfrm>
          <a:prstGeom prst="roundRect">
            <a:avLst>
              <a:gd name="adj" fmla="val 5517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23076" y="2926080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63156" y="28803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&amp; Scale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963156" y="32186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Records must be audited (who / when) and queried efficiently at scale (~20,000 records per table).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297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 Flow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48640" y="475488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1792" y="4754880"/>
            <a:ext cx="1453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/ Clean CSV Data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197303" y="5166360"/>
            <a:ext cx="201168" cy="274320"/>
          </a:xfrm>
          <a:prstGeom prst="rightArrow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46934" y="475488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520086" y="4754880"/>
            <a:ext cx="1453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Relational DB Design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095598" y="5166360"/>
            <a:ext cx="201168" cy="274320"/>
          </a:xfrm>
          <a:prstGeom prst="rightArrow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45229" y="475488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418381" y="4754880"/>
            <a:ext cx="1453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Zone + Truck + Household + Collection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993892" y="5166360"/>
            <a:ext cx="201168" cy="274320"/>
          </a:xfrm>
          <a:prstGeom prst="rightArrow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43523" y="475488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16675" y="4754880"/>
            <a:ext cx="1453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Advanced SQL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892186" y="5166360"/>
            <a:ext cx="201168" cy="274320"/>
          </a:xfrm>
          <a:prstGeom prst="rightArrow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141818" y="475488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14970" y="4754880"/>
            <a:ext cx="1453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Views + Triggers + Procedures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9790481" y="5166360"/>
            <a:ext cx="201168" cy="274320"/>
          </a:xfrm>
          <a:prstGeom prst="rightArrow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040112" y="475488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113264" y="4754880"/>
            <a:ext cx="1453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Indexing + EXPLAIN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B4EC7DB-7EBD-BD48-996C-5E9935923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74682" cy="89161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E347FB2-CE85-DFE0-2791-A5BDD51C5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" y="6126480"/>
            <a:ext cx="121920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Engineering &amp; Relational Database Structure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Sakshi Shinde  |  P47  |  Waste Segregation &amp; Municipal Collection Tracking System  |  MySQL 8.0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34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234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normalized CSV files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11396" y="12344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94276" y="1234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~20,000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003036" y="1234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records in each file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74152" y="12344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57032" y="1234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~80,000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9765792" y="1234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records loaded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2286000"/>
            <a:ext cx="2625852" cy="2715768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2860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zone.csv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" y="2907792"/>
            <a:ext cx="2331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Zone_ID (PK)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Zone_Name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Area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Zone_Officer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377184" y="2286000"/>
            <a:ext cx="2580132" cy="2739544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77184" y="22860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77184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truck.csv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3571425" y="2867891"/>
            <a:ext cx="2331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Truck_ID (PK)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Truck_No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Driver_Name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Driver_Phone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14318" y="2286000"/>
            <a:ext cx="2617262" cy="2788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05728" y="22860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05728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household.csv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70320" y="2907792"/>
            <a:ext cx="2331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Household_ID (PK)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Household_Name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Address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Zone_ID (FK → Zone)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034272" y="2286000"/>
            <a:ext cx="2606040" cy="2788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034272" y="22860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34272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collection.csv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198864" y="2907792"/>
            <a:ext cx="2331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Collection_ID (PK)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Collection_Date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Household_ID (FK → Household)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Truck_ID (FK → Truck)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Waste_Type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Weight_kg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Segregation_Status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68452" y="5249799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31520" y="5376672"/>
            <a:ext cx="2331720" cy="589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CSV Data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163824" y="5495544"/>
            <a:ext cx="182880" cy="256032"/>
          </a:xfrm>
          <a:prstGeom prst="rightArrow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364230" y="5233112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455670" y="52608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Separate Independent Entities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977128" y="5482209"/>
            <a:ext cx="182880" cy="256032"/>
          </a:xfrm>
          <a:prstGeom prst="rightArrow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54501" y="5260848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205728" y="52806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Keys + Foreign Keys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8811768" y="5505831"/>
            <a:ext cx="182880" cy="256032"/>
          </a:xfrm>
          <a:prstGeom prst="rightArrow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021318" y="5260848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37320" y="5240274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Normalized Relational Structure</a:t>
            </a:r>
            <a:endParaRPr lang="en-US" sz="14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66D6E9E-3D67-BFE5-7F69-56E792361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74682" cy="89161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CE535E9-4E6E-86BC-C5C8-2CBB23A0D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" y="6126480"/>
            <a:ext cx="121920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368109" y="137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Normalization Journey: 1NF to BCNF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Sakshi Shinde  |  P47  |  Waste Segregation &amp; Municipal Collection Tracking System  |  MySQL 8.0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23774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28016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280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1NF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Atomic values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697480"/>
            <a:ext cx="2103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Unpivot Vehicle Type 1–5 &amp; Factor 1–5 into single-valued rows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 redundant LOCATION string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57144" y="128016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57144" y="1280160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57144" y="1280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2NF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194304" y="2057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partial dependencies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194304" y="2697480"/>
            <a:ext cx="2926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Separate COLLISION from VEHICLE_TYPE &amp; CONTRIBUTING_FACTOR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Junction tables: COLLISION_VEHICLE, COLLISION_FACTOR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388608" y="12801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88608" y="12801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88608" y="1280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3NF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525768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transitive dependencies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525768" y="2697480"/>
            <a:ext cx="237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COLLISION → ZIP_CODE → BOROUGH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 into BOROUGH &amp; ZIP_CODE tables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171432" y="1280160"/>
            <a:ext cx="2468880" cy="35661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71432" y="128016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EAF4F5"/>
          </a:solidFill>
          <a:ln w="31750">
            <a:solidFill>
              <a:srgbClr val="0B4F5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71432" y="1280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BCNF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9308592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determinant is a key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308592" y="269748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X in X → Y is a candidate superkey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9 anomaly-free relations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937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53868" y="5198364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B4F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5"/>
          <p:cNvSpPr txBox="1"/>
          <p:nvPr/>
        </p:nvSpPr>
        <p:spPr>
          <a:xfrm>
            <a:off x="973719" y="5166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122381" y="5477256"/>
            <a:ext cx="274320" cy="274320"/>
          </a:xfrm>
          <a:prstGeom prst="rightArrow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16552" y="5225796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376850" y="5166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1NF → 2NF → 3NF → BCNF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257032" y="5532120"/>
            <a:ext cx="274320" cy="274320"/>
          </a:xfrm>
          <a:prstGeom prst="rightArrow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8531352" y="523494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 txBox="1"/>
          <p:nvPr/>
        </p:nvSpPr>
        <p:spPr>
          <a:xfrm>
            <a:off x="8491650" y="519644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Normalized Relations</a:t>
            </a:r>
            <a:endParaRPr lang="en-US" sz="16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1B6B39C-F51B-8C5E-1164-59F232509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74682" cy="89161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6C6A224-2B99-E453-05D2-D92862906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974" y="6126480"/>
            <a:ext cx="12261948" cy="731520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580F01C5-34FF-1805-60CA-B260EA1BDF8F}"/>
              </a:ext>
            </a:extLst>
          </p:cNvPr>
          <p:cNvSpPr/>
          <p:nvPr/>
        </p:nvSpPr>
        <p:spPr>
          <a:xfrm>
            <a:off x="973719" y="5205222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1B6695-D69B-1624-45EB-83F57CBD7AE6}"/>
              </a:ext>
            </a:extLst>
          </p:cNvPr>
          <p:cNvSpPr txBox="1"/>
          <p:nvPr/>
        </p:nvSpPr>
        <p:spPr>
          <a:xfrm>
            <a:off x="1470622" y="5326380"/>
            <a:ext cx="223035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Unnormalized CSV</a:t>
            </a:r>
            <a:endParaRPr lang="en-US" dirty="0"/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 columns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062480" y="1270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Architecture &amp; Integrity Constraints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Sakshi Shinde  |  P47  |  Waste Segregation &amp; Municipal Collection Tracking System  |  MySQL 8.0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Relationship Tree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746504"/>
            <a:ext cx="3657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Zone_ID (PK)  •  UNIQUE (Zone_Name)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14600" y="2560320"/>
            <a:ext cx="0" cy="274320"/>
          </a:xfrm>
          <a:prstGeom prst="line">
            <a:avLst/>
          </a:prstGeom>
          <a:noFill/>
          <a:ln w="25400">
            <a:solidFill>
              <a:srgbClr val="0B4F5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48640" y="28346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889504"/>
            <a:ext cx="3657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Household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Household_ID (PK)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Zone_ID (FK, CASCADE)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14600" y="3703320"/>
            <a:ext cx="0" cy="274320"/>
          </a:xfrm>
          <a:prstGeom prst="line">
            <a:avLst/>
          </a:prstGeom>
          <a:noFill/>
          <a:ln w="25400">
            <a:solidFill>
              <a:srgbClr val="0B4F5C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48640" y="39776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D9ECEE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4032504"/>
            <a:ext cx="3657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Collection_ID (PK, VARCHAR)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Household_ID (FK)  •  Truck_ID (FK)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514600" y="4846320"/>
            <a:ext cx="0" cy="274320"/>
          </a:xfrm>
          <a:prstGeom prst="line">
            <a:avLst/>
          </a:prstGeom>
          <a:noFill/>
          <a:ln w="25400">
            <a:solidFill>
              <a:srgbClr val="0B4F5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48640" y="51206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5175504"/>
            <a:ext cx="3657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Collection_Audit_Log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Log_ID (PK)  •  Collection_ID (FK CASCADE)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892040" y="39776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83480" y="4032504"/>
            <a:ext cx="1371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Truck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Truck_ID (PK)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 flipH="1">
            <a:off x="4892040" y="4411980"/>
            <a:ext cx="0" cy="0"/>
          </a:xfrm>
          <a:prstGeom prst="line">
            <a:avLst/>
          </a:prstGeom>
          <a:noFill/>
          <a:ln w="25400">
            <a:solidFill>
              <a:srgbClr val="0B4F5C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572000" y="1691640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81728" y="1783080"/>
            <a:ext cx="167335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Referential actions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DELETE / UPDATE CASCADE on all foreign keys — deleting a parent cleans up its child records.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1234440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Constraint Types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6675120" y="169164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75120" y="1691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KEY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403336" y="169164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03336" y="1691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FOREIGN KEY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0131552" y="169164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131552" y="1691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NULL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675120" y="2258568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75120" y="2258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403336" y="2258568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03336" y="2258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0131552" y="2258568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131552" y="2258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DEFAULT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675120" y="3063240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Validation Rules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6675120" y="3520440"/>
            <a:ext cx="4965192" cy="786384"/>
          </a:xfrm>
          <a:prstGeom prst="roundRect">
            <a:avLst>
              <a:gd name="adj" fmla="val 9302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12280" y="3575304"/>
            <a:ext cx="4690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Weight_kg &gt; 0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Enforced via CHECK constraint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675120" y="4416552"/>
            <a:ext cx="4965192" cy="786384"/>
          </a:xfrm>
          <a:prstGeom prst="roundRect">
            <a:avLst>
              <a:gd name="adj" fmla="val 9302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812280" y="4471416"/>
            <a:ext cx="4690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Waste_Type ∈ {Wet, Dry, Hazardous}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Enforced via CHECK constraint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675120" y="5312664"/>
            <a:ext cx="4965192" cy="786384"/>
          </a:xfrm>
          <a:prstGeom prst="roundRect">
            <a:avLst>
              <a:gd name="adj" fmla="val 9302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812280" y="5367528"/>
            <a:ext cx="4690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Segregation_Status ∈ {Compliant, Non-Compliant}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DEFAULT 'Compliant'</a:t>
            </a:r>
            <a:endParaRPr lang="en-US" sz="16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21F278E0-E873-9BBA-7065-6C425CC6E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74682" cy="89161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BB09E56-754E-BC01-7DD7-F4624F121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" y="6126480"/>
            <a:ext cx="121920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363724" y="137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 Analytics: Rejoining Normalized Entities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Sakshi Shinde  |  P47  |  Waste Segregation &amp; Municipal Collection Tracking System  |  MySQL 8.0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13258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INNER JOIN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1755648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Combines Collection + Household + Zone + Truck for full transactional detail.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77184" y="12344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41776" y="13258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LEFT JOIN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541776" y="1755648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Lists all households, including those with zero collection records (COUNT + GROUP BY).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05728" y="12344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70320" y="13258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RIGHT JOIN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370320" y="1755648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Lists all zones, including zones with no matching households.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034272" y="12344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98864" y="13258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JOIN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98864" y="1755648"/>
            <a:ext cx="2276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Compares rows within the same table (Household or Truck); example below.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Self-Join SQL Example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48640" y="3520440"/>
            <a:ext cx="6400800" cy="1600200"/>
          </a:xfrm>
          <a:prstGeom prst="rect">
            <a:avLst/>
          </a:prstGeom>
          <a:solidFill>
            <a:srgbClr val="F4F4F4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593592"/>
            <a:ext cx="612648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h1.Household_Name AS Household_A,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h2.Household_Name AS Household_B,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h1.Zone_ID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Household h1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INNER JOIN Household h2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ON h1.Zone_ID = h2.Zone_ID AND h1.Household_ID &lt; h2.Household_ID;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257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Aggregate &amp; Grouping Toolkit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48640" y="5596128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5596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BY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969972" y="5584931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965960" y="55504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HAVING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221254" y="5584931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4"/>
          <p:cNvSpPr txBox="1"/>
          <p:nvPr/>
        </p:nvSpPr>
        <p:spPr>
          <a:xfrm>
            <a:off x="3246120" y="55778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COUNT()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455694" y="5584931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434840" y="556869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SUM()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702567" y="5575601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702567" y="5551341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AVG()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0" y="31089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Correlated Subqueries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7315200" y="3520440"/>
            <a:ext cx="4325112" cy="777240"/>
          </a:xfrm>
          <a:prstGeom prst="roundRect">
            <a:avLst>
              <a:gd name="adj" fmla="val 9412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452360" y="3675888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092440" y="3566160"/>
            <a:ext cx="3410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Above-Average Households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collection weight exceeds the overall average.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315200" y="4389120"/>
            <a:ext cx="4325112" cy="777240"/>
          </a:xfrm>
          <a:prstGeom prst="roundRect">
            <a:avLst>
              <a:gd name="adj" fmla="val 9412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452360" y="4544568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8092440" y="4434840"/>
            <a:ext cx="3410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Latest Non-Compliant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recent collection is Non-Compliant.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315200" y="5257800"/>
            <a:ext cx="4325112" cy="777240"/>
          </a:xfrm>
          <a:prstGeom prst="roundRect">
            <a:avLst>
              <a:gd name="adj" fmla="val 9412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52360" y="5413248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8092440" y="5303520"/>
            <a:ext cx="3410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High-Load Trucks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collected weight exceeds the overall average.</a:t>
            </a:r>
            <a:endParaRPr lang="en-US" sz="16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F5076B5-605B-5C2D-08FE-670C3AF38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74682" cy="89161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C7C9AD2-39B9-669C-F731-21B426DE4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" y="6135811"/>
            <a:ext cx="121920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29840" y="1600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Stored Procedure &amp; Operational Transactions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Sakshi Shinde  |  P47  |  Waste Segregation &amp; Municipal Collection Tracking System  |  MySQL 8.0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Procedure: RecordCollection — Execution Flow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852160" cy="841248"/>
          </a:xfrm>
          <a:prstGeom prst="roundRect">
            <a:avLst>
              <a:gd name="adj" fmla="val 8696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883664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737360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Collection_ID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MAX numeric suffix and increment (e.g., C000021)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60120" y="2532888"/>
            <a:ext cx="0" cy="100584"/>
          </a:xfrm>
          <a:prstGeom prst="line">
            <a:avLst/>
          </a:prstGeom>
          <a:noFill/>
          <a:ln w="19050">
            <a:solidFill>
              <a:srgbClr val="0B4F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633472"/>
            <a:ext cx="5852160" cy="841248"/>
          </a:xfrm>
          <a:prstGeom prst="roundRect">
            <a:avLst>
              <a:gd name="adj" fmla="val 8696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825496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267919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 Collection_Date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 the collection date using CURDATE()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60120" y="3474720"/>
            <a:ext cx="0" cy="100584"/>
          </a:xfrm>
          <a:prstGeom prst="line">
            <a:avLst/>
          </a:prstGeom>
          <a:noFill/>
          <a:ln w="19050">
            <a:solidFill>
              <a:srgbClr val="0B4F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3575304"/>
            <a:ext cx="5852160" cy="841248"/>
          </a:xfrm>
          <a:prstGeom prst="roundRect">
            <a:avLst>
              <a:gd name="adj" fmla="val 8696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767328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621024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Record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the collection row into the Collection table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60120" y="4416552"/>
            <a:ext cx="0" cy="100584"/>
          </a:xfrm>
          <a:prstGeom prst="line">
            <a:avLst/>
          </a:prstGeom>
          <a:noFill/>
          <a:ln w="19050">
            <a:solidFill>
              <a:srgbClr val="0B4F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4517136"/>
            <a:ext cx="5852160" cy="841248"/>
          </a:xfrm>
          <a:prstGeom prst="roundRect">
            <a:avLst>
              <a:gd name="adj" fmla="val 8696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562856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Return Collection_ID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returns the generated ID to the caller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5479288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3128" y="55138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InnoDB provides isolation and durability; FK and CHECK constraints ensure consistency.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720840" y="12344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Parameters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720840" y="1691640"/>
            <a:ext cx="4919472" cy="1600200"/>
          </a:xfrm>
          <a:prstGeom prst="roundRect">
            <a:avLst>
              <a:gd name="adj" fmla="val 4571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03720" y="1783080"/>
            <a:ext cx="4553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p_household  —  Household ID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p_truck  —  Truck ID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p_type  —  Waste Type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p_weight  —  Weight in kg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p_status  —  Segregation Status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720840" y="342900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 Call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6720840" y="3840480"/>
            <a:ext cx="4919472" cy="502920"/>
          </a:xfrm>
          <a:prstGeom prst="rect">
            <a:avLst/>
          </a:prstGeom>
          <a:solidFill>
            <a:srgbClr val="F4F4F4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0" y="3913632"/>
            <a:ext cx="4645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CALL RecordCollection(1, 1, 'Wet', 2.5, 'Compliant');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720840" y="448056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ACID Properties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6720840" y="4892040"/>
            <a:ext cx="2391156" cy="585216"/>
          </a:xfrm>
          <a:prstGeom prst="roundRect">
            <a:avLst>
              <a:gd name="adj" fmla="val 12500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12280" y="4910328"/>
            <a:ext cx="2208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Atomicity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logical operation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249156" y="4892040"/>
            <a:ext cx="2391156" cy="585216"/>
          </a:xfrm>
          <a:prstGeom prst="roundRect">
            <a:avLst>
              <a:gd name="adj" fmla="val 12500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340596" y="4910328"/>
            <a:ext cx="2208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Consistency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FK + CHECK keep data valid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720840" y="5550408"/>
            <a:ext cx="2391156" cy="585216"/>
          </a:xfrm>
          <a:prstGeom prst="roundRect">
            <a:avLst>
              <a:gd name="adj" fmla="val 12500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12280" y="5568696"/>
            <a:ext cx="2208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Isolation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Handles concurrent calls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9249156" y="5550408"/>
            <a:ext cx="2391156" cy="585216"/>
          </a:xfrm>
          <a:prstGeom prst="roundRect">
            <a:avLst>
              <a:gd name="adj" fmla="val 12500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340596" y="5568696"/>
            <a:ext cx="2208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Durability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Committed data persists</a:t>
            </a:r>
            <a:endParaRPr lang="en-US" sz="14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ED270F0-F4F7-8BD4-2521-9622DBDF8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74682" cy="89161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C006447-ECD0-78CA-38A6-88F59DB51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" y="6126480"/>
            <a:ext cx="121920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65680" y="19202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Business Rules &amp; Audit Logging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Sakshi Shinde  |  P47  |  Waste Segregation &amp; Municipal Collection Tracking System  |  MySQL 8.0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943600" cy="2880360"/>
          </a:xfrm>
          <a:prstGeom prst="roundRect">
            <a:avLst>
              <a:gd name="adj" fmla="val 2540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 1 — BEFORE INSERT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709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trg_before_collection_insert  •  validates the record before it is written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057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1: Reject if Weight_kg ≤ 0 (SIGNAL SQLSTATE '45000')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2: If Waste_Type = 'Hazardous' AND Weight_kg &gt; 4, set Segregation_Status = 'Non-Compliant'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3017520"/>
            <a:ext cx="5486400" cy="914400"/>
          </a:xfrm>
          <a:prstGeom prst="rect">
            <a:avLst/>
          </a:prstGeom>
          <a:solidFill>
            <a:srgbClr val="F4F4F4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3090672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NEW.Waste_Type = 'Hazardous' AND NEW.Weight_kg &gt; 4 THEN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SET NEW.Segregation_Status = 'Non-Compliant';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 IF;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20840" y="1234440"/>
            <a:ext cx="4919472" cy="2880360"/>
          </a:xfrm>
          <a:prstGeom prst="roundRect">
            <a:avLst>
              <a:gd name="adj" fmla="val 2540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49440" y="132588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 2 — AFTER INSERT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170992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trg_after_collection_insert  •  audit logging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949440" y="2057400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Automatically inserts an audit row into Collection_Audit_Log for every new collection.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292608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Logged Fields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3246120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Collection_ID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 ('INSERT')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Action_Time (CURRENT_TIMESTAMP)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297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 Event Flow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48640" y="47548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47548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Collection Insert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571750" y="5212080"/>
            <a:ext cx="201168" cy="274320"/>
          </a:xfrm>
          <a:prstGeom prst="rightArrow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830068" y="47548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21508" y="47548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INSERT Trigger (validate weight + hazardous rule)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853178" y="5212080"/>
            <a:ext cx="201168" cy="274320"/>
          </a:xfrm>
          <a:prstGeom prst="rightArrow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111496" y="47548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202936" y="47548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 Inserted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134606" y="5212080"/>
            <a:ext cx="201168" cy="274320"/>
          </a:xfrm>
          <a:prstGeom prst="rightArrow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92924" y="47548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84364" y="47548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INSERT Trigger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416034" y="5212080"/>
            <a:ext cx="201168" cy="274320"/>
          </a:xfrm>
          <a:prstGeom prst="rightArrow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674352" y="47548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EAF4F5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765792" y="47548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Log Entry Created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8AB1EEA-069F-153E-5453-54E9D261B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74682" cy="89161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795207D-F53E-F596-350C-2194984C2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" y="6126480"/>
            <a:ext cx="121920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066544" y="21132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 Optimization: B-Tree Indexing &amp; EXPLAIN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Sakshi Shinde  |  P47  |  Waste Segregation &amp; Municipal Collection Tracking System  |  MySQL 8.0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 table holds ~20,000 rows — frequent filters on Household_ID, Truck_ID and Segregation_Status benefit from indexing.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938528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idx_collection_household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304288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Collection(Household_ID)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20340" y="18745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93492" y="1938528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idx_collection_truck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793492" y="2304288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Collection(Truck_ID)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17720" y="187452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90872" y="1938528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idx_household_zone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690872" y="2304288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Household(Zone_ID)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77940" y="187452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51092" y="193852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idx_collection_status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51092" y="2304288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Collection(Segregation_Status)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915400" y="1874520"/>
            <a:ext cx="27249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88552" y="19385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idx_collection_household_status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988552" y="2304288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Composite: Collection(Household_ID, Segregation_Status)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333756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340156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INDEX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79476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Queries filtering on Household_ID or Segregation_Status rely on a full table scan.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run on: SELECT ... WHERE Household_ID = 500 and SELECT ... WHERE Segregation_Status = 'Non-Compliant'.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199632" y="333756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82512" y="340156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INDEX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382512" y="379476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EXPLAIN queries re-run after the CREATE INDEX statements.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Optimizer can now choose an index seek instead of a full scan where the filter is selective.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3492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EXPLAIN Fields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48640" y="5715000"/>
            <a:ext cx="868680" cy="411480"/>
          </a:xfrm>
          <a:prstGeom prst="roundRect">
            <a:avLst>
              <a:gd name="adj" fmla="val 48889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568299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527048" y="57150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527048" y="5715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possible_keys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236976" y="5715000"/>
            <a:ext cx="777240" cy="411480"/>
          </a:xfrm>
          <a:prstGeom prst="roundRect">
            <a:avLst>
              <a:gd name="adj" fmla="val 48889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236976" y="57150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123944" y="5715000"/>
            <a:ext cx="868680" cy="411480"/>
          </a:xfrm>
          <a:prstGeom prst="roundRect">
            <a:avLst>
              <a:gd name="adj" fmla="val 48889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123944" y="57150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102352" y="5715000"/>
            <a:ext cx="868680" cy="411480"/>
          </a:xfrm>
          <a:prstGeom prst="roundRect">
            <a:avLst>
              <a:gd name="adj" fmla="val 48889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102352" y="57150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720840" y="5349240"/>
            <a:ext cx="49194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0B4F5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858000" y="5349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Trade-off: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faster reads vs. extra index storage and maintenance cost on INSERT / UPDATE.</a:t>
            </a:r>
            <a:endParaRPr lang="en-US" sz="16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08402E3-4344-ED39-086D-D50AD8555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74682" cy="89161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BD474F8-D89D-137F-9C41-8B9405501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" y="6227251"/>
            <a:ext cx="1219200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39986" y="137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Outcomes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Sakshi Shinde  |  P47  |  Waste Segregation &amp; Municipal Collection Tracking System  |  MySQL 8.0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2140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Connected tables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040380" y="128016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77540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~20,000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3177540" y="212140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Records per table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532120" y="128016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0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212140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 types: Inner, Left, Right, Self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292608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3063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37673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Correlated subqueries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040380" y="292608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177540" y="3063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3177540" y="37673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Reporting views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532120" y="292608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69280" y="3063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3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0" y="37673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Parameterized stored procedure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457200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709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36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541324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triggers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040380" y="457200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177540" y="4709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3600" dirty="0"/>
          </a:p>
        </p:txBody>
      </p:sp>
      <p:sp>
        <p:nvSpPr>
          <p:cNvPr id="29" name="Text 26"/>
          <p:cNvSpPr txBox="1"/>
          <p:nvPr/>
        </p:nvSpPr>
        <p:spPr>
          <a:xfrm>
            <a:off x="3177540" y="541324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Indexes, including a composite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532120" y="457200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0" y="4709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5669280" y="541324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/ after plan comparison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138160" y="1280160"/>
            <a:ext cx="3502152" cy="4800600"/>
          </a:xfrm>
          <a:prstGeom prst="roundRect">
            <a:avLst>
              <a:gd name="adj" fmla="val 2089"/>
            </a:avLst>
          </a:prstGeom>
          <a:solidFill>
            <a:srgbClr val="EAF4F5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66760" y="14173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8366760" y="1874520"/>
            <a:ext cx="30449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Relational design, SQL analytics, automated database rules, stored procedures and indexing transform municipal waste collection data into a structured and efficient database system.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8366760" y="4206240"/>
            <a:ext cx="3044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Integrity: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PK, FK, CHECK, cascades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Automation: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triggers + audit log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B-Tree indexes</a:t>
            </a:r>
            <a:endParaRPr lang="en-US" sz="16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69E8ECA-8724-3BE2-4212-C31AB5BAA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74682" cy="89161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A09197B-2E0D-6378-0504-D48C7A3BD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" y="6126480"/>
            <a:ext cx="121920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68138" y="16317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MySQL Demonstration Roadmap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Sakshi Shinde  |  P47  |  Waste Segregation &amp; Municipal Collection Tracking System  |  MySQL 8.0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382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72184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32588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schema.sql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 the database and tables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432304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28600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data.sql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4 CSVs, verify ≈20,000 rows each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20040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392424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324612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integrity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orphan Household_ID / Truck_ID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416052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4352544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420624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Multi-table JOIN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Zone + Household + Truck + Collection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512064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5312664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516636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BY / HAVING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Zone-wise waste totals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99632" y="128016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82512" y="1472184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068312" y="132588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Correlated subquery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Above-average households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99632" y="224028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82512" y="2432304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068312" y="228600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Reporting views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 the 3 reporting views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199632" y="320040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82512" y="3392424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068312" y="324612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Stored procedure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CALL RecordCollection(...) live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99632" y="416052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82512" y="4352544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7068312" y="420624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 auto-flagging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a Hazardous record above 4 kg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199632" y="512064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EAF4F5"/>
          </a:solidFill>
          <a:ln w="9525">
            <a:solidFill>
              <a:srgbClr val="B9D7D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382512" y="5312664"/>
            <a:ext cx="457200" cy="457200"/>
          </a:xfrm>
          <a:prstGeom prst="ellipse">
            <a:avLst/>
          </a:prstGeom>
          <a:solidFill>
            <a:srgbClr val="EAF4F5"/>
          </a:solidFill>
          <a:ln w="19050">
            <a:solidFill>
              <a:srgbClr val="0B4F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7068312" y="516636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comparison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and after CREATE INDEX</a:t>
            </a:r>
            <a:endParaRPr lang="en-US" sz="16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7C87CE9-C565-C028-6426-B4D39AD81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74682" cy="89161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77CCB3E-0D9C-9825-5698-22A473FD0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" y="6126480"/>
            <a:ext cx="121920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1089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Sakshi Shinde  |  P47  |  PRN: 24ACDS1101015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Waste Segregation &amp; Municipal Collection Tracking System</a:t>
            </a:r>
            <a:endParaRPr lang="en-US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0BFE18-D831-FB4A-12C9-FBB40381C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74682" cy="891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0C76FC-0A9E-41C3-02BF-5D7A16934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" y="6126480"/>
            <a:ext cx="1219200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1992</Words>
  <Application>Microsoft Office PowerPoint</Application>
  <PresentationFormat>Widescreen</PresentationFormat>
  <Paragraphs>331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Segregation &amp; Municipal Collection Tracking System</dc:title>
  <dc:subject>PptxGenJS Presentation</dc:subject>
  <dc:creator>Sakshi Shinde</dc:creator>
  <cp:lastModifiedBy>sakshi shinde</cp:lastModifiedBy>
  <cp:revision>3</cp:revision>
  <dcterms:created xsi:type="dcterms:W3CDTF">2026-09-24T02:10:45Z</dcterms:created>
  <dcterms:modified xsi:type="dcterms:W3CDTF">2026-09-24T02:52:46Z</dcterms:modified>
</cp:coreProperties>
</file>